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0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A7B04-26C4-4C52-8D71-DF5E824C53B2}" v="2" dt="2026-08-23T09:36:49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ison Modgil" userId="b62e7f1da2c1f0d4" providerId="LiveId" clId="{2C8AAE2A-3508-443F-945E-F97DB07EBF08}"/>
    <pc:docChg chg="modSld">
      <pc:chgData name="Ranison Modgil" userId="b62e7f1da2c1f0d4" providerId="LiveId" clId="{2C8AAE2A-3508-443F-945E-F97DB07EBF08}" dt="2026-08-23T09:39:44.328" v="2" actId="1076"/>
      <pc:docMkLst>
        <pc:docMk/>
      </pc:docMkLst>
      <pc:sldChg chg="modSp mod">
        <pc:chgData name="Ranison Modgil" userId="b62e7f1da2c1f0d4" providerId="LiveId" clId="{2C8AAE2A-3508-443F-945E-F97DB07EBF08}" dt="2026-08-23T09:39:44.328" v="2" actId="1076"/>
        <pc:sldMkLst>
          <pc:docMk/>
          <pc:sldMk cId="0" sldId="278"/>
        </pc:sldMkLst>
        <pc:spChg chg="mod">
          <ac:chgData name="Ranison Modgil" userId="b62e7f1da2c1f0d4" providerId="LiveId" clId="{2C8AAE2A-3508-443F-945E-F97DB07EBF08}" dt="2026-08-23T09:39:41.167" v="1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Ranison Modgil" userId="b62e7f1da2c1f0d4" providerId="LiveId" clId="{2C8AAE2A-3508-443F-945E-F97DB07EBF08}" dt="2026-08-23T09:39:44.328" v="2" actId="1076"/>
          <ac:spMkLst>
            <pc:docMk/>
            <pc:sldMk cId="0" sldId="278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Gaming Analytics</a:t>
            </a:r>
          </a:p>
          <a:p>
            <a:pPr>
              <a:defRPr sz="3200">
                <a:solidFill>
                  <a:srgbClr val="8EC4C9"/>
                </a:solidFill>
              </a:defRPr>
            </a:pPr>
            <a:r>
              <a:t>Data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14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AE1E7"/>
                </a:solidFill>
              </a:defRPr>
            </a:pPr>
            <a:r>
              <a:rPr dirty="0"/>
              <a:t>Python ingestion  •  PostgreSQL  •  </a:t>
            </a:r>
            <a:r>
              <a:rPr dirty="0" err="1"/>
              <a:t>dbt</a:t>
            </a:r>
            <a:r>
              <a:rPr dirty="0"/>
              <a:t> transformations  •  </a:t>
            </a:r>
            <a:r>
              <a:rPr lang="en-AU" dirty="0"/>
              <a:t>T</a:t>
            </a:r>
            <a:r>
              <a:rPr dirty="0" err="1"/>
              <a:t>ests</a:t>
            </a:r>
            <a:r>
              <a:rPr dirty="0"/>
              <a:t>  •  </a:t>
            </a:r>
            <a:r>
              <a:rPr lang="en-AU" dirty="0"/>
              <a:t>O</a:t>
            </a:r>
            <a:r>
              <a:rPr dirty="0" err="1"/>
              <a:t>rchestration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48468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rPr dirty="0"/>
              <a:t>Operational gaming-machine data converted into reporting-ready</a:t>
            </a:r>
            <a:r>
              <a:rPr lang="en-AU" dirty="0"/>
              <a:t> layer.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32588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Source fields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Business date, venue, EGM description, manufacturer and FP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64008" cy="132588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Financial measures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Turnover and GMP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17320"/>
            <a:ext cx="338328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3296" y="1417320"/>
            <a:ext cx="64008" cy="132588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55448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Activity measure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Games played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A3037"/>
                </a:solidFill>
                <a:latin typeface="Aptos"/>
              </a:defRPr>
            </a:pPr>
            <a:r>
              <a:t>The source arrives as a CSV, not as a reporting table.</a:t>
            </a:r>
          </a:p>
          <a:p>
            <a:pPr>
              <a:spcAft>
                <a:spcPts val="700"/>
              </a:spcAft>
              <a:defRPr sz="1800">
                <a:solidFill>
                  <a:srgbClr val="2A3037"/>
                </a:solidFill>
                <a:latin typeface="Aptos"/>
              </a:defRPr>
            </a:pPr>
            <a:r>
              <a:t>The pipeline keeps raw ingestion separate from transformation logic.</a:t>
            </a:r>
          </a:p>
          <a:p>
            <a:pPr>
              <a:spcAft>
                <a:spcPts val="700"/>
              </a:spcAft>
              <a:defRPr sz="1800">
                <a:solidFill>
                  <a:srgbClr val="2A3037"/>
                </a:solidFill>
                <a:latin typeface="Aptos"/>
              </a:defRPr>
            </a:pPr>
            <a:r>
              <a:t>The final outputs support daily, venue and EGM-level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Local stack with clear responsibilities at each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CSV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input 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679192"/>
            <a:ext cx="22860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ingestion.py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Python loader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679192"/>
            <a:ext cx="32004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PostgreSQL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raw storage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679192"/>
            <a:ext cx="22860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dbt staging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typed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679192"/>
            <a:ext cx="22860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dbt reporting views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reports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679192"/>
            <a:ext cx="22860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2057400"/>
            <a:ext cx="1691640" cy="12344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dbt tests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1. Load raw CSV into PostgreSQL</a:t>
            </a:r>
          </a:p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2. Standardise and type data in dbt staging</a:t>
            </a:r>
          </a:p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3. Build marts for reporting questions</a:t>
            </a:r>
          </a:p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4. Run tests before treating outputs as trusted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Project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Folders are separated by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5715000" cy="516636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353312"/>
            <a:ext cx="5312664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data_engineer_challenge/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├── data/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├── Data Engineer Challenge_input.csv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└── mock_incremental_rows.csv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├── ingestion/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└── ingestion.py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├── orchestration/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└── run_pipeline.py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├── gaming_analytics/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├── dbt_project.yml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├── models/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├── staging/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│   ├── sources.yml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│   ├── staging.yml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│   └── stg_game_performance.sql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└── marts/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    ├── daily_summary.sql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    ├── egm_venue_revenue.sql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    ├── venue_turnover.sql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│       └── marts.yml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└── tests/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    ├── no_null_manufacturer.sql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    ├── positive_turnover.sql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    ├── raw_to_staging_completeness.sql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│       └── valid_games_played.sql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├── requirements.txt</a:t>
            </a:r>
          </a:p>
          <a:p>
            <a:pPr>
              <a:spcAft>
                <a:spcPts val="0"/>
              </a:spcAft>
              <a:defRPr sz="919">
                <a:solidFill>
                  <a:srgbClr val="FFFFFF"/>
                </a:solidFill>
                <a:latin typeface="Consolas"/>
              </a:defRPr>
            </a:pPr>
            <a:r>
              <a:t>└── README.md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25880"/>
            <a:ext cx="46634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325880"/>
            <a:ext cx="64008" cy="9144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1463039"/>
            <a:ext cx="4315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ingestion/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Reads CSV files and loads them into the raw PostgreSQL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423160"/>
            <a:ext cx="46634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423160"/>
            <a:ext cx="64008" cy="91440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0568" y="2560320"/>
            <a:ext cx="4315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gaming_analytics/models/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Contains the dbt staging model and reporting marts.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520440"/>
            <a:ext cx="46634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29400" y="3520440"/>
            <a:ext cx="64008" cy="91440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3657600"/>
            <a:ext cx="4315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gaming_analytics/tests/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Contains custom SQL tests for business/data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617720"/>
            <a:ext cx="46634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4617720"/>
            <a:ext cx="64008" cy="91440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0568" y="4754880"/>
            <a:ext cx="4315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orchestration/run_pipeline.py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Single entry point for the full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Ingestion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How the CSV is loaded into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63039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Read CSV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ingestion.py reads the selected CSV into a pandas DataFrame.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64008" cy="114300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834640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Credentials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Database connection values are read from environment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069080"/>
            <a:ext cx="64008" cy="114300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4206240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Database load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SQLAlchemy connects to PostgreSQL and pandas to_sql writes to raw.game_performance.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64008" cy="114300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463039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Base load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replace mode is used for the supplied challenge CSV.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6974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697480"/>
            <a:ext cx="64008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834640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Incremental test data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append mode is used when adding the smaller mock CSV.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33756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069080"/>
            <a:ext cx="64008" cy="114300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4206240"/>
            <a:ext cx="2990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Raw layer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No business reporting logic is applied during ingestion.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325880"/>
            <a:ext cx="3337560" cy="3977639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1490472"/>
            <a:ext cx="29352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CSV file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↓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pandas DataFrame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↓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SQLAlchemy + psycopg2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↓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PostgreSQL raw.game_performance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Staging Transformation and Incremental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dbt keeps a clean typed staging table and only adds newer records on later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97180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96012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71600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Materialization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stg_game_performance is configured as an incremental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95728"/>
            <a:ext cx="2971800" cy="1078992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395728"/>
            <a:ext cx="64008" cy="1078992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532888"/>
            <a:ext cx="262432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Unique key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bus_date, venue_code, egm_description, manufacturer and fp define the row grain.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30752"/>
            <a:ext cx="2971800" cy="1078992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730752"/>
            <a:ext cx="64008" cy="1078992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867912"/>
            <a:ext cx="262432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First run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dbt creates the staging table and loads the available source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074920"/>
            <a:ext cx="2971800" cy="7772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5074920"/>
            <a:ext cx="64008" cy="77724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5212080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Next runs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Only records with a bus_date newer than the staged max date are inserted.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170432"/>
            <a:ext cx="7635240" cy="452628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1335024"/>
            <a:ext cx="726947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{{ config(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materialized='incremental',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unique_key=[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    'bus_date', 'venue_code',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    'egm_description', 'manufacturer', 'fp'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) }}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cast(bus_date as date) as bus_date,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venue_code,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egm_description,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manufacturer,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fp,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cast(turnover_sum as numeric(18,2)) as turnover_sum,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cast(gmp_sum as numeric(18,2)) as gmp_sum,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cast(games_played_sum as numeric(18,2)) as games_played_sum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from {{ source('raw', 'game_performance') }}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{% if is_incremental() %}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where cast(bus_date as date) &gt; (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select max(cast(bus_date as date))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    from {{ this }}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850">
                <a:solidFill>
                  <a:srgbClr val="FFFFFF"/>
                </a:solidFill>
                <a:latin typeface="Consolas"/>
              </a:defRPr>
            </a:pPr>
            <a:r>
              <a:t>{% endif %}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806440"/>
            <a:ext cx="7178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The raw table remains the landing area; staging is where the data is typed and prepared.</a:t>
            </a:r>
          </a:p>
          <a:p>
            <a:pPr>
              <a:spcAft>
                <a:spcPts val="6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The date filter keeps incremental runs small for this demo.</a:t>
            </a:r>
          </a:p>
          <a:p>
            <a:pPr>
              <a:spcAft>
                <a:spcPts val="6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The unique key documents the intended row grain and helps avoid duplicate business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dbt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The data flow is source → staging → marts; tests validate the staging layer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D77"/>
                </a:solidFill>
              </a:defRPr>
            </a:pPr>
            <a: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D77"/>
                </a:solidFill>
              </a:defRPr>
            </a:pPr>
            <a:r>
              <a:t>STAGING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D77"/>
                </a:solidFill>
              </a:defRPr>
            </a:pPr>
            <a:r>
              <a:t>MARTS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2331720" cy="109728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raw.game_performance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PostgreSQL source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23160"/>
            <a:ext cx="2514600" cy="109728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stg_game_performance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Incremental, typed staging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600200"/>
            <a:ext cx="2788920" cy="96012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3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daily_summary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Daily totals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788920"/>
            <a:ext cx="2788920" cy="96012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BE7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venue_turnover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Venue turnover rollup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977639"/>
            <a:ext cx="2788920" cy="96012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egm_venue_revenue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Venue + EGM GMP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343400"/>
            <a:ext cx="2331720" cy="960120"/>
          </a:xfrm>
          <a:prstGeom prst="roundRect">
            <a:avLst/>
          </a:prstGeom>
          <a:solidFill>
            <a:srgbClr val="F6F8FA"/>
          </a:solidFill>
          <a:ln w="20320">
            <a:solidFill>
              <a:srgbClr val="BE7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637"/>
                </a:solidFill>
              </a:defRPr>
            </a:pPr>
            <a:r>
              <a:t>Data Quality Tests</a:t>
            </a:r>
          </a:p>
          <a:p>
            <a:pPr algn="ctr">
              <a:defRPr sz="1000">
                <a:solidFill>
                  <a:srgbClr val="646D77"/>
                </a:solidFill>
              </a:defRPr>
            </a:pPr>
            <a:r>
              <a:t>Validate staging assumptions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2971800"/>
            <a:ext cx="548640" cy="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35040" y="2084831"/>
            <a:ext cx="777240" cy="886969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971800"/>
            <a:ext cx="777240" cy="301752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971800"/>
            <a:ext cx="777240" cy="1490472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82312" y="3520440"/>
            <a:ext cx="0" cy="822960"/>
          </a:xfrm>
          <a:prstGeom prst="line">
            <a:avLst/>
          </a:prstGeom>
          <a:ln w="25400">
            <a:solidFill>
              <a:srgbClr val="BE76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Reporting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Reporting logic built from the cleaned staging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9202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9202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daily_summary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Groups by business date and provides daily totals for turnover, GMP and games played.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9202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64008" cy="192024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venue_turnover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Aggregates turnover by venue so activity can be compared.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17320"/>
            <a:ext cx="3383280" cy="19202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3296" y="1417320"/>
            <a:ext cx="64008" cy="192024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554480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egm_venue_revenue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Aggregates GMP by venue and EGM description to support machine-level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Each reporting view uses ref('stg_game_performance').</a:t>
            </a:r>
          </a:p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No reporting view reads directly from raw.game_performance.</a:t>
            </a:r>
          </a:p>
          <a:p>
            <a:pPr>
              <a:spcAft>
                <a:spcPts val="700"/>
              </a:spcAft>
              <a:defRPr sz="1600">
                <a:solidFill>
                  <a:srgbClr val="2A3037"/>
                </a:solidFill>
                <a:latin typeface="Aptos"/>
              </a:defRPr>
            </a:pPr>
            <a:r>
              <a:t>The model design keeps cleanup separate from business aggregation.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Data Quality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24612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05156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62456"/>
            <a:ext cx="288036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rPr dirty="0"/>
              <a:t>18 tests</a:t>
            </a:r>
            <a:r>
              <a:rPr lang="en-AU" dirty="0"/>
              <a:t>(inbuilt and customised)</a:t>
            </a:r>
            <a:endParaRPr dirty="0"/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rPr dirty="0"/>
              <a:t>The project currently executes 18 data tests against the staging layer and related source-to-staging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14600"/>
            <a:ext cx="324612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64008" cy="105156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642616"/>
            <a:ext cx="288036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Completeness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not_null checks cover bus_date, venue_code, EGM description, manufacturer, FP, turnover, GMP and games played.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324612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794760"/>
            <a:ext cx="64008" cy="105156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922776"/>
            <a:ext cx="288036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Text quality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dbt_utils.not_empty_string checks egm_description and manufacturer so blank strings do not pass as valid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074920"/>
            <a:ext cx="324612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5074920"/>
            <a:ext cx="64008" cy="82296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5202936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Range checks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dbt_expectations validates date, venue code, turnover and GMP ranges.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234440"/>
            <a:ext cx="3749039" cy="480060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380744"/>
            <a:ext cx="3383279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# staging.yml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bus_date: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expect_column_values_to_be_between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1999-01-01 → 2026-12-31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venue_code: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between 1 and 99999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egm_description / manufacturer: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not_empty_string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turnover_sum: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minimum 0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gmp_sum: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-1,000,000 to 1,000,000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games_played_sum: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- not_null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234440"/>
            <a:ext cx="338328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234440"/>
            <a:ext cx="64008" cy="105156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1362456"/>
            <a:ext cx="301752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Custom SQL tests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no_null_manufacturer, positive_turnover, raw_to_staging_completeness and valid_games_played.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560320"/>
            <a:ext cx="3383280" cy="118872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2560320"/>
            <a:ext cx="64008" cy="118872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2688336"/>
            <a:ext cx="3017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Why staging is tested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The reporting views all depend on stg_game_performance, so validating staging catches issues before they flow into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4023360"/>
            <a:ext cx="3383280" cy="118872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4023360"/>
            <a:ext cx="64008" cy="118872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4151376"/>
            <a:ext cx="3017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Warning behaviour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positive_turnover is configured as a warning. In the run shown later, it returns 13 records while the pipeline still completes.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5486400"/>
            <a:ext cx="3383280" cy="5943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5486400"/>
            <a:ext cx="64008" cy="59436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5614416"/>
            <a:ext cx="3017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Execution</a:t>
            </a:r>
          </a:p>
          <a:p>
            <a:pPr>
              <a:spcBef>
                <a:spcPts val="300"/>
              </a:spcBef>
              <a:defRPr sz="1050">
                <a:solidFill>
                  <a:srgbClr val="646D77"/>
                </a:solidFill>
              </a:defRPr>
            </a:pPr>
            <a:r>
              <a:t>dbt test runs the complete test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Incremental Load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Base load uses replace; follow-up loads use append and dbt incremental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46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14300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2898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1. Base load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Load the full challenge CSV into raw.game_performance using replace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3246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606040"/>
            <a:ext cx="64008" cy="114300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743200"/>
            <a:ext cx="2898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2. Mock new data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Append a smaller CSV containing newer business dates into the same raw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3246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977639"/>
            <a:ext cx="64008" cy="114300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4114800"/>
            <a:ext cx="2898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3. dbt incremental run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t>stg_game_performance checks the latest staged bus_date and inserts only newer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49239"/>
            <a:ext cx="3299678" cy="88697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5349240"/>
            <a:ext cx="64008" cy="658368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5486400"/>
            <a:ext cx="2898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rPr dirty="0"/>
              <a:t>4. Marts refresh</a:t>
            </a:r>
          </a:p>
          <a:p>
            <a:pPr>
              <a:spcBef>
                <a:spcPts val="400"/>
              </a:spcBef>
              <a:defRPr sz="1120">
                <a:solidFill>
                  <a:srgbClr val="646D77"/>
                </a:solidFill>
                <a:latin typeface="Aptos"/>
              </a:defRPr>
            </a:pPr>
            <a:r>
              <a:rPr dirty="0"/>
              <a:t>Views read from the updated staging model and reflect the latest staged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234440"/>
            <a:ext cx="6995160" cy="283464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1399032"/>
            <a:ext cx="6629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python .\ingestion\ingestion.py ".\data\Data Engineer Challenge_input.csv" replace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python .\ingestion\ingestion.py ".\data\mock_incremental_rows.csv" append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cd gaming_analytics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dbt run --select stg_game_performance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dbt run --select daily_summary venue_turnover egm_venue_revenue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89120"/>
            <a:ext cx="6537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3037"/>
                </a:solidFill>
                <a:latin typeface="Aptos"/>
              </a:defRPr>
            </a:pPr>
            <a:r>
              <a:t>This is a simple incremental pattern for the take-home challenge.</a:t>
            </a:r>
          </a:p>
          <a:p>
            <a:pPr>
              <a:spcAft>
                <a:spcPts val="600"/>
              </a:spcAft>
              <a:defRPr sz="1400">
                <a:solidFill>
                  <a:srgbClr val="2A3037"/>
                </a:solidFill>
                <a:latin typeface="Aptos"/>
              </a:defRPr>
            </a:pPr>
            <a:r>
              <a:t>It avoids rebuilding the staged history when only newer dates are added.</a:t>
            </a:r>
          </a:p>
          <a:p>
            <a:pPr>
              <a:spcAft>
                <a:spcPts val="600"/>
              </a:spcAft>
              <a:defRPr sz="1400">
                <a:solidFill>
                  <a:srgbClr val="2A3037"/>
                </a:solidFill>
                <a:latin typeface="Aptos"/>
              </a:defRPr>
            </a:pPr>
            <a:r>
              <a:t>If same-day late-arriving changes were expected, the filter could be changed to use a lookback window or a full composite-key merge.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Orchestration Workflow: run_pipeline.py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The orchestrator is the single command that runs the project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9184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82296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2944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Entry point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python .\orchestration\run_pipeline.py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2918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64008" cy="91440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rPr dirty="0"/>
              <a:t>Project paths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rPr dirty="0"/>
              <a:t>ROOT, INGESTION_SCRIPT, DBT_PROJECT and DEFAULT_CSV_PATH are resolved using </a:t>
            </a:r>
            <a:r>
              <a:rPr dirty="0" err="1"/>
              <a:t>pathlib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32918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337560"/>
            <a:ext cx="64008" cy="91440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47472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Fail fast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The script checks that ingestion.py exists and dbt is available on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329184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64008" cy="914400"/>
          </a:xfrm>
          <a:prstGeom prst="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57200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Flexible input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Optional command-line arguments allow a different CSV path and load mode.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325880"/>
            <a:ext cx="1874519" cy="7772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1. Load CSV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python ingestion.py &lt;csv&gt; &lt;mode&gt;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2" y="2103120"/>
            <a:ext cx="0" cy="22860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43400" y="2286000"/>
            <a:ext cx="1874519" cy="7772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2. Install packages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dbt deps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85232" y="3063240"/>
            <a:ext cx="0" cy="22860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3246120"/>
            <a:ext cx="1874519" cy="7772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5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3. Check connection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dbt debug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85232" y="4023359"/>
            <a:ext cx="0" cy="228601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43400" y="4206240"/>
            <a:ext cx="1874519" cy="7772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4. Build models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dbt run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85232" y="4983479"/>
            <a:ext cx="0" cy="228600"/>
          </a:xfrm>
          <a:prstGeom prst="line">
            <a:avLst/>
          </a:prstGeom>
          <a:ln w="25400">
            <a:solidFill>
              <a:srgbClr val="2B5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43400" y="5166359"/>
            <a:ext cx="1874519" cy="7772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B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637"/>
                </a:solidFill>
              </a:defRPr>
            </a:pPr>
            <a:r>
              <a:t>5. Run tests</a:t>
            </a:r>
          </a:p>
          <a:p>
            <a:pPr algn="ctr">
              <a:defRPr sz="950">
                <a:solidFill>
                  <a:srgbClr val="646D77"/>
                </a:solidFill>
              </a:defRPr>
            </a:pPr>
            <a:r>
              <a:t>dbt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234440"/>
            <a:ext cx="4892040" cy="452628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1399032"/>
            <a:ext cx="44897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def main():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ensure_dbt_available()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run_command([sys.executable, INGESTION_SCRIPT, csv_path, load_mode], ROOT)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run_command(["dbt", "deps"], DBT_PROJECT)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run_command(["dbt", "debug"], DBT_PROJECT)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run_command(["dbt", "run"], DBT_PROJECT)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run_command(["dbt", "test"], DBT_PROJECT)</a:t>
            </a:r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print("Pipeline completed successfully.")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Business Analysis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  <a:latin typeface="Aptos"/>
              </a:defRPr>
            </a:pPr>
            <a:r>
              <a:t>A small venue-performance query adds business meaning to the pipeline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7472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64008" cy="1234440"/>
          </a:xfrm>
          <a:prstGeom prst="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63039"/>
            <a:ext cx="3127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Turnover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Shows the amount of gaming activity or wagering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347472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64008" cy="1234440"/>
          </a:xfrm>
          <a:prstGeom prst="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926079"/>
            <a:ext cx="3127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GMP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Used as the performance/revenue measure in this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347472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4251960"/>
            <a:ext cx="64008" cy="1234440"/>
          </a:xfrm>
          <a:prstGeom prst="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4389120"/>
            <a:ext cx="3127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637"/>
                </a:solidFill>
                <a:latin typeface="Aptos"/>
              </a:defRPr>
            </a:pPr>
            <a:r>
              <a:t>GMP %</a:t>
            </a:r>
          </a:p>
          <a:p>
            <a:pPr>
              <a:spcBef>
                <a:spcPts val="400"/>
              </a:spcBef>
              <a:defRPr sz="1150">
                <a:solidFill>
                  <a:srgbClr val="646D77"/>
                </a:solidFill>
                <a:latin typeface="Aptos"/>
              </a:defRPr>
            </a:pPr>
            <a:r>
              <a:t>Compares GMP relative to turnover, so high-volume venues can be assessed more fairly.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71228"/>
            <a:ext cx="7226950" cy="5212080"/>
          </a:xfrm>
          <a:prstGeom prst="round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1490472"/>
            <a:ext cx="6364224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select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venue_code</a:t>
            </a:r>
            <a:r>
              <a:rPr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    sum(</a:t>
            </a:r>
            <a:r>
              <a:rPr dirty="0" err="1"/>
              <a:t>turnover_sum</a:t>
            </a:r>
            <a:r>
              <a:rPr dirty="0"/>
              <a:t>) as </a:t>
            </a:r>
            <a:r>
              <a:rPr dirty="0" err="1"/>
              <a:t>total_turnover</a:t>
            </a:r>
            <a:r>
              <a:rPr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    sum(</a:t>
            </a:r>
            <a:r>
              <a:rPr dirty="0" err="1"/>
              <a:t>gmp_sum</a:t>
            </a:r>
            <a:r>
              <a:rPr dirty="0"/>
              <a:t>) as </a:t>
            </a:r>
            <a:r>
              <a:rPr dirty="0" err="1"/>
              <a:t>total_gmp</a:t>
            </a:r>
            <a:r>
              <a:rPr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    round((sum(</a:t>
            </a:r>
            <a:r>
              <a:rPr dirty="0" err="1"/>
              <a:t>gmp_sum</a:t>
            </a:r>
            <a:r>
              <a:rPr dirty="0"/>
              <a:t>) / </a:t>
            </a:r>
            <a:r>
              <a:rPr dirty="0" err="1"/>
              <a:t>nullif</a:t>
            </a:r>
            <a:r>
              <a:rPr dirty="0"/>
              <a:t>(sum(</a:t>
            </a:r>
            <a:r>
              <a:rPr dirty="0" err="1"/>
              <a:t>turnover_sum</a:t>
            </a:r>
            <a:r>
              <a:rPr dirty="0"/>
              <a:t>), 0)) * 100, 2) as </a:t>
            </a:r>
            <a:r>
              <a:rPr dirty="0" err="1"/>
              <a:t>gmp_percentage</a:t>
            </a:r>
            <a:endParaRPr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analytics.stg_game_performance</a:t>
            </a:r>
            <a:endParaRPr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group by </a:t>
            </a:r>
            <a:r>
              <a:rPr dirty="0" err="1"/>
              <a:t>venue_code</a:t>
            </a:r>
            <a:endParaRPr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order by </a:t>
            </a:r>
            <a:r>
              <a:rPr dirty="0" err="1"/>
              <a:t>total_gmp</a:t>
            </a:r>
            <a:r>
              <a:rPr dirty="0"/>
              <a:t> desc;</a:t>
            </a:r>
            <a:endParaRPr lang="en-AU"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endParaRPr lang="en-AU"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------------------------------------------------------------------------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select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</a:t>
            </a:r>
            <a:r>
              <a:rPr lang="en-AU" dirty="0" err="1"/>
              <a:t>venue_code</a:t>
            </a:r>
            <a:r>
              <a:rPr lang="en-AU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round(sum(</a:t>
            </a:r>
            <a:r>
              <a:rPr lang="en-AU" dirty="0" err="1"/>
              <a:t>turnover_sum</a:t>
            </a:r>
            <a:r>
              <a:rPr lang="en-AU" dirty="0"/>
              <a:t>), 2) as </a:t>
            </a:r>
            <a:r>
              <a:rPr lang="en-AU" dirty="0" err="1"/>
              <a:t>total_turnover</a:t>
            </a:r>
            <a:r>
              <a:rPr lang="en-AU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round(sum(</a:t>
            </a:r>
            <a:r>
              <a:rPr lang="en-AU" dirty="0" err="1"/>
              <a:t>gmp_sum</a:t>
            </a:r>
            <a:r>
              <a:rPr lang="en-AU" dirty="0"/>
              <a:t>), 2) as </a:t>
            </a:r>
            <a:r>
              <a:rPr lang="en-AU" dirty="0" err="1"/>
              <a:t>total_gmp</a:t>
            </a:r>
            <a:r>
              <a:rPr lang="en-AU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round(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    (sum(</a:t>
            </a:r>
            <a:r>
              <a:rPr lang="en-AU" dirty="0" err="1"/>
              <a:t>gmp_sum</a:t>
            </a:r>
            <a:r>
              <a:rPr lang="en-AU" dirty="0"/>
              <a:t>) / </a:t>
            </a:r>
            <a:r>
              <a:rPr lang="en-AU" dirty="0" err="1"/>
              <a:t>nullif</a:t>
            </a:r>
            <a:r>
              <a:rPr lang="en-AU" dirty="0"/>
              <a:t>(sum(</a:t>
            </a:r>
            <a:r>
              <a:rPr lang="en-AU" dirty="0" err="1"/>
              <a:t>turnover_sum</a:t>
            </a:r>
            <a:r>
              <a:rPr lang="en-AU" dirty="0"/>
              <a:t>), 0)) * 100,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    2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) as </a:t>
            </a:r>
            <a:r>
              <a:rPr lang="en-AU" dirty="0" err="1"/>
              <a:t>gmp_percentage</a:t>
            </a:r>
            <a:r>
              <a:rPr lang="en-AU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case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    when sum(</a:t>
            </a:r>
            <a:r>
              <a:rPr lang="en-AU" dirty="0" err="1"/>
              <a:t>gmp_sum</a:t>
            </a:r>
            <a:r>
              <a:rPr lang="en-AU" dirty="0"/>
              <a:t>) &gt; 0 then 'Positive GMP'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    when sum(</a:t>
            </a:r>
            <a:r>
              <a:rPr lang="en-AU" dirty="0" err="1"/>
              <a:t>gmp_sum</a:t>
            </a:r>
            <a:r>
              <a:rPr lang="en-AU" dirty="0"/>
              <a:t>) &lt; 0 then 'Negative GMP'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    else 'Break Even'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    end as performance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from </a:t>
            </a:r>
            <a:r>
              <a:rPr lang="en-AU" dirty="0" err="1"/>
              <a:t>analytics.stg_game_performance</a:t>
            </a:r>
            <a:endParaRPr lang="en-AU"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group by </a:t>
            </a:r>
            <a:r>
              <a:rPr lang="en-AU" dirty="0" err="1"/>
              <a:t>venue_code</a:t>
            </a:r>
            <a:endParaRPr lang="en-AU" dirty="0"/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AU" dirty="0"/>
              <a:t>order by </a:t>
            </a:r>
            <a:r>
              <a:rPr lang="en-AU" dirty="0" err="1"/>
              <a:t>total_gmp</a:t>
            </a:r>
            <a:r>
              <a:rPr lang="en-AU" dirty="0"/>
              <a:t> desc;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Evidence: Raw and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</a:defRPr>
            </a:pPr>
            <a:r>
              <a:t>Key database evidence without mixing screenshots into the implementation slides</a:t>
            </a:r>
          </a:p>
        </p:txBody>
      </p:sp>
      <p:pic>
        <p:nvPicPr>
          <p:cNvPr id="5" name="Picture 4" descr="221e2b61-9be2-4b4e-a0e1-d7a58ad9d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64" y="1188720"/>
            <a:ext cx="4326940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2DBA87-32F1-F836-8EA4-E4A84756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4394"/>
            <a:ext cx="5292424" cy="15927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425C65-A2BB-9D20-EE73-90441123D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29000"/>
            <a:ext cx="6631763" cy="19245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Evidence: Reporting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66275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</a:defRPr>
            </a:pPr>
            <a:r>
              <a:rPr dirty="0" err="1"/>
              <a:t>daily_summary</a:t>
            </a:r>
            <a:r>
              <a:rPr dirty="0"/>
              <a:t> </a:t>
            </a:r>
            <a:r>
              <a:rPr lang="en-AU" dirty="0"/>
              <a:t>,</a:t>
            </a:r>
            <a:r>
              <a:rPr dirty="0" err="1"/>
              <a:t>egm_venue_revenue</a:t>
            </a:r>
            <a:r>
              <a:rPr dirty="0"/>
              <a:t> </a:t>
            </a:r>
            <a:r>
              <a:rPr lang="en-AU" dirty="0"/>
              <a:t>and </a:t>
            </a:r>
            <a:r>
              <a:rPr lang="en-AU" dirty="0" err="1"/>
              <a:t>venue_turnover</a:t>
            </a:r>
            <a:r>
              <a:rPr lang="en-AU" dirty="0"/>
              <a:t> </a:t>
            </a:r>
            <a:r>
              <a:rPr dirty="0"/>
              <a:t>are created as views in the analytics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4959" y="5914432"/>
            <a:ext cx="8321040" cy="54864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1" y="5953554"/>
            <a:ext cx="795527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rPr dirty="0"/>
              <a:t>Materialization</a:t>
            </a:r>
          </a:p>
          <a:p>
            <a:pPr>
              <a:defRPr sz="1100">
                <a:solidFill>
                  <a:srgbClr val="646D77"/>
                </a:solidFill>
              </a:defRPr>
            </a:pPr>
            <a:r>
              <a:rPr dirty="0"/>
              <a:t>The reporting layer is VIEW-based; the staging layer remains incremental.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2461D-0158-516D-2110-A28F14CE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88" y="1603809"/>
            <a:ext cx="4075809" cy="17489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77D3B8-5AA2-8FBF-0719-6484ADDD6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58" y="1734748"/>
            <a:ext cx="3962576" cy="16180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41E24C-1D9D-6776-EF8A-AD86FFD8F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492" y="3574818"/>
            <a:ext cx="4985187" cy="2003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Evidence: Incremental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</a:defRPr>
            </a:pPr>
            <a:r>
              <a:t>A small append demonstrates the incremental staging behaviour</a:t>
            </a:r>
          </a:p>
        </p:txBody>
      </p:sp>
      <p:pic>
        <p:nvPicPr>
          <p:cNvPr id="5" name="Picture 4" descr="77c46dcc-1e6f-49e5-8509-a2bfc04f9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92219"/>
            <a:ext cx="5257800" cy="2759160"/>
          </a:xfrm>
          <a:prstGeom prst="rect">
            <a:avLst/>
          </a:prstGeom>
        </p:spPr>
      </p:pic>
      <p:pic>
        <p:nvPicPr>
          <p:cNvPr id="6" name="Picture 5" descr="7ed3457c-7561-4eac-962e-d2c1e5833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805" y="1234440"/>
            <a:ext cx="4994909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828800" y="5074920"/>
            <a:ext cx="850392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5184648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Observed change</a:t>
            </a:r>
          </a:p>
          <a:p>
            <a:pPr>
              <a:defRPr sz="1100">
                <a:solidFill>
                  <a:srgbClr val="646D77"/>
                </a:solidFill>
              </a:defRPr>
            </a:pPr>
            <a:r>
              <a:t>The raw dataset moves from 1,240 to 1,245 rows and includes the newer business 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7"/>
                </a:solidFill>
                <a:latin typeface="Aptos Display"/>
              </a:defRPr>
            </a:pPr>
            <a:r>
              <a:t>Evidence: Tests and Pipeline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D77"/>
                </a:solidFill>
              </a:defRPr>
            </a:pPr>
            <a:r>
              <a:t>The orchestrator completes the dbt run and surfaces the configured data-quality warning</a:t>
            </a:r>
          </a:p>
        </p:txBody>
      </p:sp>
      <p:pic>
        <p:nvPicPr>
          <p:cNvPr id="5" name="Picture 4" descr="54292a8d-7583-4d29-9969-83f3411d8f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8617"/>
            <a:ext cx="5577840" cy="4923684"/>
          </a:xfrm>
          <a:prstGeom prst="rect">
            <a:avLst/>
          </a:prstGeom>
        </p:spPr>
      </p:pic>
      <p:pic>
        <p:nvPicPr>
          <p:cNvPr id="6" name="Picture 5" descr="dbt_run_test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13736"/>
            <a:ext cx="5394960" cy="27334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80160" y="5715000"/>
            <a:ext cx="969264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39" y="5824728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37"/>
                </a:solidFill>
              </a:defRPr>
            </a:pPr>
            <a:r>
              <a:t>Result</a:t>
            </a:r>
          </a:p>
          <a:p>
            <a:pPr>
              <a:defRPr sz="1100">
                <a:solidFill>
                  <a:srgbClr val="646D77"/>
                </a:solidFill>
              </a:defRPr>
            </a:pPr>
            <a:r>
              <a:t>dbt run succeeds; 17 tests pass and positive_turnover returns 13 rows as a warning.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AE1E7"/>
                </a:solidFill>
                <a:latin typeface="Aptos"/>
              </a:defRPr>
            </a:pPr>
            <a:r>
              <a:t>A complete local pipeline with working outputs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874519" cy="868680"/>
          </a:xfrm>
          <a:prstGeom prst="roundRect">
            <a:avLst/>
          </a:prstGeom>
          <a:solidFill>
            <a:srgbClr val="2B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874519"/>
            <a:ext cx="1874519" cy="868680"/>
          </a:xfrm>
          <a:prstGeom prst="roundRect">
            <a:avLst/>
          </a:prstGeom>
          <a:solidFill>
            <a:srgbClr val="2B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1874519" cy="868680"/>
          </a:xfrm>
          <a:prstGeom prst="roundRect">
            <a:avLst/>
          </a:prstGeom>
          <a:solidFill>
            <a:srgbClr val="BE7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0760" y="1837945"/>
            <a:ext cx="1874519" cy="868680"/>
          </a:xfrm>
          <a:prstGeom prst="roundRect">
            <a:avLst/>
          </a:prstGeom>
          <a:solidFill>
            <a:srgbClr val="3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0480" y="1837945"/>
            <a:ext cx="1874519" cy="868680"/>
          </a:xfrm>
          <a:prstGeom prst="roundRect">
            <a:avLst/>
          </a:prstGeom>
          <a:solidFill>
            <a:srgbClr val="78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8686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CSV ingestion into PostgreSQL raw storage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Incremental dbt staging model with explicit typing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Daily, venue and EGM/venue reporting views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18 automated data-quality tests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run_pipeline.py orchestrates the full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D77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2122</Words>
  <Application>Microsoft Office PowerPoint</Application>
  <PresentationFormat>Widescreen</PresentationFormat>
  <Paragraphs>325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Ranison Modgil</dc:creator>
  <cp:keywords/>
  <dc:description>generated using python-pptx</dc:description>
  <cp:lastModifiedBy>Ranison Modgil</cp:lastModifiedBy>
  <cp:revision>3</cp:revision>
  <dcterms:created xsi:type="dcterms:W3CDTF">2013-01-27T09:14:16Z</dcterms:created>
  <dcterms:modified xsi:type="dcterms:W3CDTF">2026-08-23T09:39:47Z</dcterms:modified>
  <cp:category/>
</cp:coreProperties>
</file>